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A9AAC-7400-468E-8283-04E52F97C4DB}" v="300" dt="2026-02-21T23:30:32.6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5E9CB-27C1-458D-BDD1-58FFBF50633F}" type="datetimeFigureOut">
              <a:t>2/21/2026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A4310E-5248-4DE0-9FAB-CCD1A03B60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402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7FAFC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57250"/>
            <a:ext cx="3429000" cy="3429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14750" y="1649341"/>
            <a:ext cx="51435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00"/>
              </a:lnSpc>
            </a:pPr>
            <a:r>
              <a:rPr lang="en-US" sz="3250" b="1" dirty="0">
                <a:solidFill>
                  <a:srgbClr val="2C5282"/>
                </a:solidFill>
              </a:rPr>
              <a:t>Heart Disease</a:t>
            </a:r>
            <a:r>
              <a:rPr lang="en-US" sz="3250" dirty="0">
                <a:solidFill>
                  <a:srgbClr val="2C5282"/>
                </a:solidFill>
                <a:ea typeface="+mn-lt"/>
                <a:cs typeface="+mn-lt"/>
              </a:rPr>
              <a:t> </a:t>
            </a:r>
            <a:r>
              <a:rPr lang="en-US" sz="3250" b="1" dirty="0">
                <a:solidFill>
                  <a:srgbClr val="2C5282"/>
                </a:solidFill>
              </a:rPr>
              <a:t>Risk Prediction in India</a:t>
            </a:r>
            <a:endParaRPr lang="en-US" sz="3250" dirty="0"/>
          </a:p>
        </p:txBody>
      </p:sp>
      <p:sp>
        <p:nvSpPr>
          <p:cNvPr id="6" name="Text 2"/>
          <p:cNvSpPr/>
          <p:nvPr/>
        </p:nvSpPr>
        <p:spPr>
          <a:xfrm>
            <a:off x="3714750" y="2826609"/>
            <a:ext cx="3906454" cy="231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900"/>
              </a:lnSpc>
            </a:pPr>
            <a:r>
              <a:rPr lang="en-US" sz="1450" dirty="0">
                <a:solidFill>
                  <a:srgbClr val="718096"/>
                </a:solidFill>
              </a:rPr>
              <a:t>M: -Driven Preventive Healthcare &amp; Clinical Analysis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3714750" y="3385607"/>
            <a:ext cx="5143500" cy="144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850" b="1" kern="0" spc="1" dirty="0">
                <a:solidFill>
                  <a:srgbClr val="4A5568"/>
                </a:solidFill>
              </a:rPr>
              <a:t>By : Kiran </a:t>
            </a:r>
            <a:r>
              <a:rPr lang="en-US" sz="850" b="1" kern="0" spc="1" dirty="0" err="1">
                <a:solidFill>
                  <a:srgbClr val="4A5568"/>
                </a:solidFill>
              </a:rPr>
              <a:t>Aralapuram</a:t>
            </a:r>
            <a:endParaRPr lang="en-US" sz="850" b="1" kern="0" spc="1" dirty="0" err="1">
              <a:solidFill>
                <a:srgbClr val="4A556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42072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5282"/>
                </a:solidFill>
              </a:rPr>
              <a:t>The Dual Crisis: Diabetes &amp; Heart Disease in India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55839" y="1392166"/>
            <a:ext cx="4190999" cy="67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India faces a critical health challenge as Type 2 Diabetes and cardiovascular diseases surge in tandem. Clinical evidence highlights poor blood sugar control as a primary driver of heart attack risk.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28625" y="2449441"/>
            <a:ext cx="4000500" cy="9144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2449441"/>
            <a:ext cx="42863" cy="9144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2449441"/>
            <a:ext cx="4000500" cy="951799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r>
              <a:rPr lang="en-US" sz="1100" i="1" dirty="0">
                <a:solidFill>
                  <a:srgbClr val="2D3748"/>
                </a:solidFill>
                <a:ea typeface="+mn-lt"/>
                <a:cs typeface="+mn-lt"/>
              </a:rPr>
              <a:t>"How accurately can we use Machine learning in creating a suitable model to predict heart attack risk for people in India? And when we look at all the health factors, just how much bigger of a red flag is diabetes compared to everything else?"</a:t>
            </a:r>
            <a:endParaRPr lang="en-US" sz="1100" i="1" dirty="0">
              <a:ea typeface="+mn-lt"/>
              <a:cs typeface="+mn-lt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285576"/>
            <a:ext cx="3569607" cy="30865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42072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5282"/>
                </a:solidFill>
              </a:rPr>
              <a:t>Data Insights: Sourcing &amp; Exploratory Analysis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1320729"/>
            <a:ext cx="444210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D3748"/>
                </a:solidFill>
              </a:rPr>
              <a:t>Dataset:</a:t>
            </a:r>
            <a:r>
              <a:rPr lang="en-US" sz="1400" dirty="0">
                <a:solidFill>
                  <a:srgbClr val="2D3748"/>
                </a:solidFill>
              </a:rPr>
              <a:t> Sourced from Kaggle, curated for the Indian demographic to ensure regional relevance.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8625" y="2014966"/>
            <a:ext cx="4442101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400" b="1" dirty="0">
                <a:solidFill>
                  <a:srgbClr val="2D3748"/>
                </a:solidFill>
              </a:rPr>
              <a:t>EDA Findings: </a:t>
            </a:r>
            <a:r>
              <a:rPr lang="en-US" sz="1400" dirty="0">
                <a:solidFill>
                  <a:srgbClr val="2D3748"/>
                </a:solidFill>
              </a:rPr>
              <a:t>Individual clinical features (Cholesterol, BP, Smoking) can mask complex risk patterns when viewed alone.</a:t>
            </a:r>
            <a:endParaRPr lang="en-US" sz="1400" dirty="0">
              <a:solidFill>
                <a:srgbClr val="2D3748"/>
              </a:solidFill>
              <a:ea typeface="Calibri"/>
              <a:cs typeface="Calibri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01411" y="3752417"/>
            <a:ext cx="4442101" cy="554310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7" name="Shape 4"/>
          <p:cNvSpPr/>
          <p:nvPr/>
        </p:nvSpPr>
        <p:spPr>
          <a:xfrm>
            <a:off x="346982" y="3752417"/>
            <a:ext cx="110218" cy="55431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8" name="Text 5"/>
          <p:cNvSpPr/>
          <p:nvPr/>
        </p:nvSpPr>
        <p:spPr>
          <a:xfrm>
            <a:off x="401411" y="3752417"/>
            <a:ext cx="4442101" cy="56816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2D3748"/>
                </a:solidFill>
              </a:rPr>
              <a:t>Key Insight:</a:t>
            </a:r>
            <a:r>
              <a:rPr lang="en-US" sz="1100" dirty="0">
                <a:solidFill>
                  <a:srgbClr val="2D3748"/>
                </a:solidFill>
              </a:rPr>
              <a:t> Cumulative risk factors provide a more accurate prediction than any single clinical variable.</a:t>
            </a:r>
            <a:endParaRPr lang="en-US" sz="1100">
              <a:ea typeface="Calibri"/>
              <a:cs typeface="Calibri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849" y="1192141"/>
            <a:ext cx="314325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42072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5282"/>
                </a:solidFill>
              </a:rPr>
              <a:t>Feature Engineering &amp; Model Selection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1249291"/>
            <a:ext cx="1524072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kern="0" spc="1" dirty="0">
                <a:solidFill>
                  <a:srgbClr val="2C5282"/>
                </a:solidFill>
              </a:rPr>
              <a:t>Feature Transformation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8625" y="1549329"/>
            <a:ext cx="4364162" cy="566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Clinical variables were categorized into risk tiers (Normal, Borderline, High). Lifestyle factors were aggregated into a composite risk score to capture interactions.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428625" y="2256560"/>
            <a:ext cx="1148199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b="1" kern="0" spc="1" dirty="0">
                <a:solidFill>
                  <a:srgbClr val="2C5282"/>
                </a:solidFill>
              </a:rPr>
              <a:t>Models Evaluated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428625" y="2556597"/>
            <a:ext cx="4364162" cy="566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Tested a spectrum of algorithms: Decision Trees (Baseline), Logistic Regression (Linear), and Ensemble methods including Random Forest, Gradient Boosting, and XGBoost.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428625" y="3263829"/>
            <a:ext cx="436416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C53030"/>
                </a:solidFill>
              </a:rPr>
              <a:t>Ensemble models demonstrated superior handling of non-linear clinical data.</a:t>
            </a:r>
            <a:endParaRPr lang="en-US" sz="1200">
              <a:ea typeface="Calibri"/>
              <a:cs typeface="Calibri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768" y="1442172"/>
            <a:ext cx="300037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42072"/>
            <a:ext cx="80010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5282"/>
                </a:solidFill>
              </a:rPr>
              <a:t>Model Performance: Metrics Comparison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1500" y="1477891"/>
            <a:ext cx="30575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Ensemble models (Random Forest, Gradient Boosting, XGBoost) significantly outperform the baseline Decision Tree.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71500" y="2237919"/>
            <a:ext cx="3057525" cy="90290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2237919"/>
            <a:ext cx="28575" cy="902903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2237919"/>
            <a:ext cx="3057525" cy="93955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D3748"/>
                </a:solidFill>
              </a:rPr>
              <a:t>Key Observation:</a:t>
            </a:r>
            <a:r>
              <a:rPr lang="en-US" sz="1200" dirty="0">
                <a:solidFill>
                  <a:srgbClr val="2D3748"/>
                </a:solidFill>
              </a:rPr>
              <a:t> XGBoost achieves the highest Recall and F1-score, making it the most reliable for risk detection.</a:t>
            </a:r>
            <a:endParaRPr lang="en-US" sz="1200">
              <a:ea typeface="Calibri"/>
              <a:cs typeface="Calibri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4775" y="1349304"/>
            <a:ext cx="4657725" cy="28717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62882" y="4306816"/>
            <a:ext cx="23615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718096"/>
                </a:solidFill>
              </a:rPr>
              <a:t>Figure: Performance Metrics Across Evaluated Models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42072"/>
            <a:ext cx="80010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5282"/>
                </a:solidFill>
              </a:rPr>
              <a:t>ROC Analysis: Class Separation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1500" y="1477891"/>
            <a:ext cx="30575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The ROC curve visualizes the trade-off between sensitivity (Recall) and specificity across all thresholds.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1500" y="2237919"/>
            <a:ext cx="3057525" cy="90290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2237919"/>
            <a:ext cx="28575" cy="902903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2237919"/>
            <a:ext cx="3057525" cy="94833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D3748"/>
                </a:solidFill>
              </a:rPr>
              <a:t>Observation:</a:t>
            </a:r>
            <a:r>
              <a:rPr lang="en-US" sz="1200" dirty="0">
                <a:solidFill>
                  <a:srgbClr val="2D3748"/>
                </a:solidFill>
              </a:rPr>
              <a:t> Gradient Boosting shows the highest AUC (~0.60), indicating the strongest overall discrimination ability.</a:t>
            </a:r>
            <a:endParaRPr lang="en-US" sz="1200">
              <a:ea typeface="Calibri"/>
              <a:cs typeface="Calibri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4775" y="1349304"/>
            <a:ext cx="4657725" cy="28717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44306" y="4306816"/>
            <a:ext cx="17986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718096"/>
                </a:solidFill>
              </a:rPr>
              <a:t>Figure: ROC Curves for Evaluated Models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42072"/>
            <a:ext cx="80010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5282"/>
                </a:solidFill>
              </a:rPr>
              <a:t>Clinical Priority: The Power of Recall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1500" y="1477891"/>
            <a:ext cx="3506912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In preventive medicine, the primary goal is to ensure no high-risk patient is overlooked. This makes </a:t>
            </a:r>
            <a:r>
              <a:rPr lang="en-US" sz="1200" b="1" dirty="0">
                <a:solidFill>
                  <a:srgbClr val="2D3748"/>
                </a:solidFill>
              </a:rPr>
              <a:t>Recall</a:t>
            </a:r>
            <a:r>
              <a:rPr lang="en-US" sz="1200" dirty="0">
                <a:solidFill>
                  <a:srgbClr val="2D3748"/>
                </a:solidFill>
              </a:rPr>
              <a:t> the most critical metric for our model.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71500" y="2266494"/>
            <a:ext cx="3506912" cy="1737271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2266494"/>
            <a:ext cx="42863" cy="1737271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2552244"/>
            <a:ext cx="1683025" cy="2137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53030"/>
                </a:solidFill>
              </a:rPr>
              <a:t>The Cost of Missing a Case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714375" y="2909432"/>
            <a:ext cx="3221162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A "False Negative" means a patient at risk of a heart attack is sent home without intervention. In healthcare, we prioritize sensitivity to ensure early detection and life-saving care.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571500" y="4146640"/>
            <a:ext cx="3506912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chemeClr val="accent1"/>
                </a:solidFill>
              </a:rPr>
              <a:t>XGBoost's Position: Located in the upper region of the quadrant, demonstrating the highest Recall performance among all tested models.</a:t>
            </a: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656" y="1604218"/>
            <a:ext cx="3943350" cy="27289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35671" y="4418856"/>
            <a:ext cx="24653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718096"/>
                </a:solidFill>
              </a:rPr>
              <a:t>Figure: Magic Quadrant - Risk Detection vs Risk Ranking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642072"/>
            <a:ext cx="80010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5282"/>
                </a:solidFill>
              </a:rPr>
              <a:t>Cloud Deployment &amp; Re-Learn Workflow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89642" y="1284897"/>
            <a:ext cx="3182258" cy="1233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b="1" kern="0" spc="1" dirty="0">
                <a:solidFill>
                  <a:srgbClr val="2C5282"/>
                </a:solidFill>
              </a:rPr>
              <a:t>Cloud Deployment </a:t>
            </a:r>
            <a:endParaRPr lang="en-US" sz="1200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ts val="1200"/>
              </a:lnSpc>
            </a:pPr>
            <a:endParaRPr lang="en-US" sz="1200" b="1" kern="0" spc="1" dirty="0">
              <a:solidFill>
                <a:srgbClr val="2C5282"/>
              </a:solidFill>
              <a:ea typeface="+mn-lt"/>
              <a:cs typeface="+mn-lt"/>
            </a:endParaRPr>
          </a:p>
          <a:p>
            <a:pPr>
              <a:lnSpc>
                <a:spcPts val="1200"/>
              </a:lnSpc>
            </a:pPr>
            <a:r>
              <a:rPr lang="en-US" sz="1200" b="1" kern="0" spc="1" dirty="0">
                <a:ea typeface="+mn-lt"/>
                <a:cs typeface="+mn-lt"/>
              </a:rPr>
              <a:t>Inference</a:t>
            </a:r>
            <a:r>
              <a:rPr lang="en-US" sz="1200" b="1" kern="0" spc="1" dirty="0">
                <a:solidFill>
                  <a:srgbClr val="2C5282"/>
                </a:solidFill>
                <a:ea typeface="+mn-lt"/>
                <a:cs typeface="+mn-lt"/>
              </a:rPr>
              <a:t>:</a:t>
            </a:r>
            <a:r>
              <a:rPr lang="en-US" sz="1200" kern="0" spc="1" dirty="0">
                <a:solidFill>
                  <a:srgbClr val="2C5282"/>
                </a:solidFill>
                <a:ea typeface="+mn-lt"/>
                <a:cs typeface="+mn-lt"/>
              </a:rPr>
              <a:t> Fast API backend hosted on scalable cloud containers (Docker).</a:t>
            </a:r>
          </a:p>
          <a:p>
            <a:pPr>
              <a:lnSpc>
                <a:spcPts val="1200"/>
              </a:lnSpc>
            </a:pPr>
            <a:endParaRPr lang="en-US" sz="1200" kern="0" spc="1" dirty="0">
              <a:solidFill>
                <a:srgbClr val="2C5282"/>
              </a:solidFill>
              <a:ea typeface="+mn-lt"/>
              <a:cs typeface="+mn-lt"/>
            </a:endParaRPr>
          </a:p>
          <a:p>
            <a:pPr>
              <a:lnSpc>
                <a:spcPts val="1200"/>
              </a:lnSpc>
            </a:pPr>
            <a:r>
              <a:rPr lang="en-US" sz="1200" b="1" kern="0" spc="1" dirty="0">
                <a:ea typeface="+mn-lt"/>
                <a:cs typeface="+mn-lt"/>
              </a:rPr>
              <a:t>Storage</a:t>
            </a:r>
            <a:r>
              <a:rPr lang="en-US" sz="1200" b="1" kern="0" spc="1" dirty="0">
                <a:solidFill>
                  <a:srgbClr val="2C5282"/>
                </a:solidFill>
                <a:ea typeface="+mn-lt"/>
                <a:cs typeface="+mn-lt"/>
              </a:rPr>
              <a:t>:</a:t>
            </a:r>
            <a:r>
              <a:rPr lang="en-US" sz="1200" kern="0" spc="1" dirty="0">
                <a:solidFill>
                  <a:srgbClr val="2C5282"/>
                </a:solidFill>
                <a:ea typeface="+mn-lt"/>
                <a:cs typeface="+mn-lt"/>
              </a:rPr>
              <a:t> Versioned model artifacts stored in secure cloud buckets.</a:t>
            </a:r>
            <a:endParaRPr lang="en-US" sz="1200" dirty="0"/>
          </a:p>
          <a:p>
            <a:pPr>
              <a:lnSpc>
                <a:spcPts val="1200"/>
              </a:lnSpc>
            </a:pPr>
            <a:endParaRPr lang="en-US" sz="1200" kern="0" spc="1" dirty="0">
              <a:solidFill>
                <a:srgbClr val="2C5282"/>
              </a:solidFill>
              <a:ea typeface="Calibri"/>
              <a:cs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1500" y="2955866"/>
            <a:ext cx="1239698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kern="0" spc="1" dirty="0">
                <a:solidFill>
                  <a:srgbClr val="2C5282"/>
                </a:solidFill>
              </a:rPr>
              <a:t>Re-Learn Workflow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71500" y="3216613"/>
            <a:ext cx="3200400" cy="710803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3216613"/>
            <a:ext cx="28575" cy="710803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3216613"/>
            <a:ext cx="3200400" cy="767005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D3748"/>
                </a:solidFill>
              </a:rPr>
              <a:t>Feedback Loop:</a:t>
            </a:r>
            <a:r>
              <a:rPr lang="en-US" sz="1000" dirty="0">
                <a:solidFill>
                  <a:srgbClr val="2D3748"/>
                </a:solidFill>
              </a:rPr>
              <a:t> Monitoring logs capture performance data → Automated triggers or Data Scientists initiate retraining → New model versions are pushed to storage.</a:t>
            </a:r>
            <a:endParaRPr lang="en-US" sz="1000">
              <a:ea typeface="Calibri"/>
              <a:cs typeface="Calibri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71500" y="4525426"/>
            <a:ext cx="3200400" cy="688646"/>
          </a:xfrm>
          <a:prstGeom prst="rect">
            <a:avLst/>
          </a:prstGeom>
          <a:noFill/>
          <a:ln/>
        </p:spPr>
        <p:txBody>
          <a:bodyPr wrap="square" lIns="0" tIns="170053" rIns="0" bIns="340233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i="1" dirty="0">
                <a:solidFill>
                  <a:srgbClr val="718096"/>
                </a:solidFill>
              </a:rPr>
              <a:t>Note:</a:t>
            </a:r>
            <a:r>
              <a:rPr lang="en-US" sz="674" i="1" dirty="0">
                <a:solidFill>
                  <a:srgbClr val="718096"/>
                </a:solidFill>
              </a:rPr>
              <a:t> The system ensures continuous improvement through a closed-loop training pipeline.</a:t>
            </a:r>
            <a:endParaRPr lang="en-US" sz="674" dirty="0"/>
          </a:p>
        </p:txBody>
      </p:sp>
      <p:sp>
        <p:nvSpPr>
          <p:cNvPr id="18" name="Text 14"/>
          <p:cNvSpPr/>
          <p:nvPr/>
        </p:nvSpPr>
        <p:spPr>
          <a:xfrm>
            <a:off x="5128626" y="4649716"/>
            <a:ext cx="265864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718096"/>
                </a:solidFill>
              </a:rPr>
              <a:t>Figure: Cloud-Based Inference &amp; Re-Learn Architecture</a:t>
            </a:r>
            <a:endParaRPr lang="en-US" sz="683" dirty="0"/>
          </a:p>
        </p:txBody>
      </p:sp>
      <p:pic>
        <p:nvPicPr>
          <p:cNvPr id="19" name="Picture 18" descr="A diagram of a cloud storage system&#10;&#10;AI-generated content may be incorrect.">
            <a:extLst>
              <a:ext uri="{FF2B5EF4-FFF2-40B4-BE49-F238E27FC236}">
                <a16:creationId xmlns:a16="http://schemas.microsoft.com/office/drawing/2014/main" id="{C9D7B9D4-71E2-4E06-CE0E-DEEAD8B6F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487" y="988785"/>
            <a:ext cx="4504598" cy="32385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42072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2C5282"/>
                </a:solidFill>
              </a:rPr>
              <a:t>Conclusion &amp; Future Roadmap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1349304"/>
            <a:ext cx="6435144" cy="377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chemeClr val="accent1"/>
                </a:solidFill>
              </a:rPr>
              <a:t>Final Conclusion:</a:t>
            </a:r>
            <a:r>
              <a:rPr lang="en-US" sz="1200" dirty="0">
                <a:solidFill>
                  <a:schemeClr val="accent1"/>
                </a:solidFill>
              </a:rPr>
              <a:t> </a:t>
            </a:r>
            <a:r>
              <a:rPr lang="en-US" sz="1200" dirty="0">
                <a:solidFill>
                  <a:srgbClr val="2D3748"/>
                </a:solidFill>
              </a:rPr>
              <a:t>XGBoost is the optimal model for clinical deployment due to its superior Recall. Diabetes remains the most significant "red flag" for heart attack risk in the Indian demographic.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28625" y="2256107"/>
            <a:ext cx="6435144" cy="243420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2174463"/>
            <a:ext cx="6435145" cy="83003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7" name="Text 4"/>
          <p:cNvSpPr/>
          <p:nvPr/>
        </p:nvSpPr>
        <p:spPr>
          <a:xfrm>
            <a:off x="432708" y="2252704"/>
            <a:ext cx="1064779" cy="18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C5282"/>
                </a:solidFill>
              </a:rPr>
              <a:t>Future Roadmap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DDCD5A-F8F0-124A-C2A6-E430FBC32F9C}"/>
              </a:ext>
            </a:extLst>
          </p:cNvPr>
          <p:cNvSpPr txBox="1"/>
          <p:nvPr/>
        </p:nvSpPr>
        <p:spPr>
          <a:xfrm>
            <a:off x="426357" y="2571750"/>
            <a:ext cx="6295571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sz="1000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Perform hyperparameter tuning on the selected </a:t>
            </a:r>
            <a:r>
              <a:rPr lang="en-US" sz="1000" b="1" err="1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XGBoost</a:t>
            </a:r>
            <a:r>
              <a:rPr lang="en-US" sz="1000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 model</a:t>
            </a:r>
            <a:r>
              <a:rPr lang="en-US" sz="1000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to further improve Recall and AUC by adjusting parameters such as learning rate, max depth, and number of trees.</a:t>
            </a:r>
          </a:p>
          <a:p>
            <a:pPr>
              <a:buFont typeface=""/>
              <a:buChar char="•"/>
            </a:pPr>
            <a:endParaRPr lang="en-US" sz="1000" dirty="0">
              <a:solidFill>
                <a:srgbClr val="1F2328"/>
              </a:solidFill>
              <a:latin typeface="Calibri"/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000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Explore additional feature engineering</a:t>
            </a:r>
            <a:r>
              <a:rPr lang="en-US" sz="1000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- including interaction features (e.g., combined clinical risk scores) to better capture relationships between cholesterol, blood pressure, and lifestyle factors.</a:t>
            </a:r>
          </a:p>
          <a:p>
            <a:pPr>
              <a:buFont typeface=""/>
              <a:buChar char="•"/>
            </a:pPr>
            <a:endParaRPr lang="en-US" sz="1000" dirty="0">
              <a:solidFill>
                <a:srgbClr val="1F2328"/>
              </a:solidFill>
              <a:latin typeface="Calibri"/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000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Optimize the classification threshold to prioritize Recall</a:t>
            </a:r>
            <a:r>
              <a:rPr lang="en-US" sz="1000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, since detecting high-risk patients is more important than maximizing overall accuracy in healthcare settings.</a:t>
            </a:r>
          </a:p>
          <a:p>
            <a:pPr>
              <a:buFont typeface=""/>
              <a:buChar char="•"/>
            </a:pPr>
            <a:endParaRPr lang="en-US" sz="1000" dirty="0">
              <a:solidFill>
                <a:srgbClr val="1F2328"/>
              </a:solidFill>
              <a:latin typeface="Calibri"/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000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Test the model on external datasets</a:t>
            </a:r>
            <a:r>
              <a:rPr lang="en-US" sz="1000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- to evaluate generalizability and robustness.</a:t>
            </a:r>
          </a:p>
          <a:p>
            <a:pPr>
              <a:buFont typeface=""/>
              <a:buChar char="•"/>
            </a:pPr>
            <a:endParaRPr lang="en-US" sz="1000" dirty="0">
              <a:solidFill>
                <a:srgbClr val="1F2328"/>
              </a:solidFill>
              <a:latin typeface="Calibri"/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000" b="1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Incorporate additional variables</a:t>
            </a:r>
            <a:r>
              <a:rPr lang="en-US" sz="1000" dirty="0">
                <a:solidFill>
                  <a:srgbClr val="1F2328"/>
                </a:solidFill>
                <a:latin typeface="Calibri"/>
                <a:ea typeface="Calibri"/>
                <a:cs typeface="Calibri"/>
              </a:rPr>
              <a:t> - such as medication history or genetic factors, to improve predictive performance and clinical relevance.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107</cp:revision>
  <dcterms:created xsi:type="dcterms:W3CDTF">2026-02-21T22:30:48Z</dcterms:created>
  <dcterms:modified xsi:type="dcterms:W3CDTF">2026-02-21T23:31:29Z</dcterms:modified>
</cp:coreProperties>
</file>